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Neo Tech" panose="020B0604020202020204" charset="0"/>
      <p:regular r:id="rId14"/>
    </p:embeddedFont>
    <p:embeddedFont>
      <p:font typeface="Neo Tech Bold" panose="020B0604020202020204" charset="0"/>
      <p:regular r:id="rId15"/>
    </p:embeddedFont>
    <p:embeddedFont>
      <p:font typeface="Neo Tech Light" panose="020B0604020202020204" charset="0"/>
      <p:regular r:id="rId16"/>
    </p:embeddedFont>
    <p:embeddedFont>
      <p:font typeface="Open Sa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1" d="100"/>
          <a:sy n="31" d="100"/>
        </p:scale>
        <p:origin x="104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8.png"/><Relationship Id="rId5" Type="http://schemas.openxmlformats.org/officeDocument/2006/relationships/image" Target="../media/image6.png"/><Relationship Id="rId10" Type="http://schemas.openxmlformats.org/officeDocument/2006/relationships/image" Target="../media/image17.svg"/><Relationship Id="rId4" Type="http://schemas.openxmlformats.org/officeDocument/2006/relationships/image" Target="../media/image5.sv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5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52153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26077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52153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26077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471355" y="7684325"/>
            <a:ext cx="3731115" cy="2957757"/>
          </a:xfrm>
          <a:custGeom>
            <a:avLst/>
            <a:gdLst/>
            <a:ahLst/>
            <a:cxnLst/>
            <a:rect l="l" t="t" r="r" b="b"/>
            <a:pathLst>
              <a:path w="3731115" h="2957757">
                <a:moveTo>
                  <a:pt x="0" y="0"/>
                </a:moveTo>
                <a:lnTo>
                  <a:pt x="3731115" y="0"/>
                </a:lnTo>
                <a:lnTo>
                  <a:pt x="3731115" y="2957757"/>
                </a:lnTo>
                <a:lnTo>
                  <a:pt x="0" y="29577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5604847" y="-832180"/>
            <a:ext cx="3396344" cy="2692375"/>
          </a:xfrm>
          <a:custGeom>
            <a:avLst/>
            <a:gdLst/>
            <a:ahLst/>
            <a:cxnLst/>
            <a:rect l="l" t="t" r="r" b="b"/>
            <a:pathLst>
              <a:path w="3396344" h="2692375">
                <a:moveTo>
                  <a:pt x="3396345" y="0"/>
                </a:moveTo>
                <a:lnTo>
                  <a:pt x="0" y="0"/>
                </a:lnTo>
                <a:lnTo>
                  <a:pt x="0" y="2692375"/>
                </a:lnTo>
                <a:lnTo>
                  <a:pt x="3396345" y="2692375"/>
                </a:lnTo>
                <a:lnTo>
                  <a:pt x="339634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flipV="1">
            <a:off x="4030157" y="4766747"/>
            <a:ext cx="1022768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3731658" y="1963652"/>
            <a:ext cx="11292189" cy="2784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5483" b="1">
                <a:solidFill>
                  <a:srgbClr val="1EF1FF"/>
                </a:solidFill>
                <a:latin typeface="Neo Tech Bold"/>
                <a:ea typeface="Neo Tech Bold"/>
                <a:cs typeface="Neo Tech Bold"/>
                <a:sym typeface="Neo Tech Bold"/>
              </a:rPr>
              <a:t>IMPLEMENTASI HONEYPOT SEBAGAI PENDETEKSI SERANGAN VPS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13102" y="5018819"/>
            <a:ext cx="9061796" cy="529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2"/>
              </a:lnSpc>
            </a:pPr>
            <a:r>
              <a:rPr lang="en-US" sz="3595" spc="-104">
                <a:solidFill>
                  <a:srgbClr val="1EF1FF"/>
                </a:solidFill>
                <a:latin typeface="Neo Tech"/>
                <a:ea typeface="Neo Tech"/>
                <a:cs typeface="Neo Tech"/>
                <a:sym typeface="Neo Tech"/>
              </a:rPr>
              <a:t>•Nama: -RAIHAN ALY DZAKI</a:t>
            </a:r>
          </a:p>
          <a:p>
            <a:pPr algn="ctr">
              <a:lnSpc>
                <a:spcPts val="4602"/>
              </a:lnSpc>
            </a:pPr>
            <a:r>
              <a:rPr lang="en-US" sz="3595" spc="-104">
                <a:solidFill>
                  <a:srgbClr val="1EF1FF"/>
                </a:solidFill>
                <a:latin typeface="Neo Tech"/>
                <a:ea typeface="Neo Tech"/>
                <a:cs typeface="Neo Tech"/>
                <a:sym typeface="Neo Tech"/>
              </a:rPr>
              <a:t>NIM : 105841115323</a:t>
            </a:r>
          </a:p>
          <a:p>
            <a:pPr algn="ctr">
              <a:lnSpc>
                <a:spcPts val="4602"/>
              </a:lnSpc>
            </a:pPr>
            <a:r>
              <a:rPr lang="en-US" sz="3595" spc="-104">
                <a:solidFill>
                  <a:srgbClr val="1EF1FF"/>
                </a:solidFill>
                <a:latin typeface="Neo Tech"/>
                <a:ea typeface="Neo Tech"/>
                <a:cs typeface="Neo Tech"/>
                <a:sym typeface="Neo Tech"/>
              </a:rPr>
              <a:t>-M. FATHUR RAHMAN</a:t>
            </a:r>
          </a:p>
          <a:p>
            <a:pPr algn="ctr">
              <a:lnSpc>
                <a:spcPts val="4602"/>
              </a:lnSpc>
            </a:pPr>
            <a:r>
              <a:rPr lang="en-US" sz="3595" spc="-104">
                <a:solidFill>
                  <a:srgbClr val="1EF1FF"/>
                </a:solidFill>
                <a:latin typeface="Neo Tech"/>
                <a:ea typeface="Neo Tech"/>
                <a:cs typeface="Neo Tech"/>
                <a:sym typeface="Neo Tech"/>
              </a:rPr>
              <a:t>NIM: 105841120723</a:t>
            </a:r>
          </a:p>
          <a:p>
            <a:pPr algn="ctr">
              <a:lnSpc>
                <a:spcPts val="4602"/>
              </a:lnSpc>
            </a:pPr>
            <a:r>
              <a:rPr lang="en-US" sz="3595" spc="-104">
                <a:solidFill>
                  <a:srgbClr val="1EF1FF"/>
                </a:solidFill>
                <a:latin typeface="Neo Tech"/>
                <a:ea typeface="Neo Tech"/>
                <a:cs typeface="Neo Tech"/>
                <a:sym typeface="Neo Tech"/>
              </a:rPr>
              <a:t>•Judul: Implementasi Honeypot sebagai Pendeteksi Serangan VPS</a:t>
            </a:r>
          </a:p>
          <a:p>
            <a:pPr algn="ctr">
              <a:lnSpc>
                <a:spcPts val="4602"/>
              </a:lnSpc>
            </a:pPr>
            <a:r>
              <a:rPr lang="en-US" sz="3595" spc="-104">
                <a:solidFill>
                  <a:srgbClr val="1EF1FF"/>
                </a:solidFill>
                <a:latin typeface="Neo Tech"/>
                <a:ea typeface="Neo Tech"/>
                <a:cs typeface="Neo Tech"/>
                <a:sym typeface="Neo Tech"/>
              </a:rPr>
              <a:t>•Fokus: Pengujian pola penyerangan ganda (double attack) menggunakan Cowrie Honeypot</a:t>
            </a:r>
          </a:p>
          <a:p>
            <a:pPr algn="ctr">
              <a:lnSpc>
                <a:spcPts val="4602"/>
              </a:lnSpc>
            </a:pPr>
            <a:endParaRPr lang="en-US" sz="3595" spc="-104">
              <a:solidFill>
                <a:srgbClr val="1EF1FF"/>
              </a:solidFill>
              <a:latin typeface="Neo Tech"/>
              <a:ea typeface="Neo Tech"/>
              <a:cs typeface="Neo Tech"/>
              <a:sym typeface="Neo Tec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5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52153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26077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52153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26077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113566">
                <a:alpha val="9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969121" y="1028700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00000">
            <a:off x="3969121" y="8389236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621301" y="594168"/>
            <a:ext cx="16230600" cy="8229600"/>
            <a:chOff x="0" y="0"/>
            <a:chExt cx="4274726" cy="21674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1EF1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5EFAF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•Serangan pada server VPS semakin meningkat seperti port scanning, brute force, dan DoS.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5EFAF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•Diperlukan sistem pendeteksi dini untuk mempelajari pola serangan.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5EFAF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•Honeypot digunakan sebagai jebakan untuk merekam aktivitas penyerang.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 lang="en-US" sz="2499" b="1">
                <a:solidFill>
                  <a:srgbClr val="5EFAF7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1028700" y="2751622"/>
            <a:ext cx="3507719" cy="242352"/>
          </a:xfrm>
          <a:custGeom>
            <a:avLst/>
            <a:gdLst/>
            <a:ahLst/>
            <a:cxnLst/>
            <a:rect l="l" t="t" r="r" b="b"/>
            <a:pathLst>
              <a:path w="3507719" h="242352">
                <a:moveTo>
                  <a:pt x="0" y="0"/>
                </a:moveTo>
                <a:lnTo>
                  <a:pt x="3507719" y="0"/>
                </a:lnTo>
                <a:lnTo>
                  <a:pt x="3507719" y="242351"/>
                </a:lnTo>
                <a:lnTo>
                  <a:pt x="0" y="2423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13751581" y="2751622"/>
            <a:ext cx="3507719" cy="242352"/>
          </a:xfrm>
          <a:custGeom>
            <a:avLst/>
            <a:gdLst/>
            <a:ahLst/>
            <a:cxnLst/>
            <a:rect l="l" t="t" r="r" b="b"/>
            <a:pathLst>
              <a:path w="3507719" h="242352">
                <a:moveTo>
                  <a:pt x="3507719" y="0"/>
                </a:moveTo>
                <a:lnTo>
                  <a:pt x="0" y="0"/>
                </a:lnTo>
                <a:lnTo>
                  <a:pt x="0" y="242351"/>
                </a:lnTo>
                <a:lnTo>
                  <a:pt x="3507719" y="242351"/>
                </a:lnTo>
                <a:lnTo>
                  <a:pt x="350771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918706" y="5277375"/>
            <a:ext cx="7243217" cy="2884049"/>
          </a:xfrm>
          <a:custGeom>
            <a:avLst/>
            <a:gdLst/>
            <a:ahLst/>
            <a:cxnLst/>
            <a:rect l="l" t="t" r="r" b="b"/>
            <a:pathLst>
              <a:path w="7243217" h="2884049">
                <a:moveTo>
                  <a:pt x="0" y="0"/>
                </a:moveTo>
                <a:lnTo>
                  <a:pt x="7243217" y="0"/>
                </a:lnTo>
                <a:lnTo>
                  <a:pt x="7243217" y="2884048"/>
                </a:lnTo>
                <a:lnTo>
                  <a:pt x="0" y="28840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112572" y="2278877"/>
            <a:ext cx="6331833" cy="1034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4"/>
              </a:lnSpc>
            </a:pPr>
            <a:r>
              <a:rPr lang="en-US" sz="5776" b="1">
                <a:solidFill>
                  <a:srgbClr val="90F8FF"/>
                </a:solidFill>
                <a:latin typeface="Neo Tech Bold"/>
                <a:ea typeface="Neo Tech Bold"/>
                <a:cs typeface="Neo Tech Bold"/>
                <a:sym typeface="Neo Tech Bold"/>
              </a:rPr>
              <a:t>LATAR BELAKANG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5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52153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26077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52153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26077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113566">
                <a:alpha val="9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969121" y="1028700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00000">
            <a:off x="3969121" y="8389236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1EF1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28700" y="2751622"/>
            <a:ext cx="3507719" cy="242352"/>
          </a:xfrm>
          <a:custGeom>
            <a:avLst/>
            <a:gdLst/>
            <a:ahLst/>
            <a:cxnLst/>
            <a:rect l="l" t="t" r="r" b="b"/>
            <a:pathLst>
              <a:path w="3507719" h="242352">
                <a:moveTo>
                  <a:pt x="0" y="0"/>
                </a:moveTo>
                <a:lnTo>
                  <a:pt x="3507719" y="0"/>
                </a:lnTo>
                <a:lnTo>
                  <a:pt x="3507719" y="242351"/>
                </a:lnTo>
                <a:lnTo>
                  <a:pt x="0" y="2423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13751581" y="2751622"/>
            <a:ext cx="3507719" cy="242352"/>
          </a:xfrm>
          <a:custGeom>
            <a:avLst/>
            <a:gdLst/>
            <a:ahLst/>
            <a:cxnLst/>
            <a:rect l="l" t="t" r="r" b="b"/>
            <a:pathLst>
              <a:path w="3507719" h="242352">
                <a:moveTo>
                  <a:pt x="3507719" y="0"/>
                </a:moveTo>
                <a:lnTo>
                  <a:pt x="0" y="0"/>
                </a:lnTo>
                <a:lnTo>
                  <a:pt x="0" y="242351"/>
                </a:lnTo>
                <a:lnTo>
                  <a:pt x="3507719" y="242351"/>
                </a:lnTo>
                <a:lnTo>
                  <a:pt x="350771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307510" y="3638168"/>
            <a:ext cx="11962567" cy="5988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 Light"/>
                <a:ea typeface="Neo Tech Light"/>
                <a:cs typeface="Neo Tech Light"/>
                <a:sym typeface="Neo Tech Light"/>
              </a:rPr>
              <a:t>•Perangkat Lunak:</a:t>
            </a:r>
          </a:p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 Light"/>
                <a:ea typeface="Neo Tech Light"/>
                <a:cs typeface="Neo Tech Light"/>
                <a:sym typeface="Neo Tech Light"/>
              </a:rPr>
              <a:t>•- VirtualBox</a:t>
            </a:r>
          </a:p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 Light"/>
                <a:ea typeface="Neo Tech Light"/>
                <a:cs typeface="Neo Tech Light"/>
                <a:sym typeface="Neo Tech Light"/>
              </a:rPr>
              <a:t>•- Ubuntu Server</a:t>
            </a:r>
          </a:p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 Light"/>
                <a:ea typeface="Neo Tech Light"/>
                <a:cs typeface="Neo Tech Light"/>
                <a:sym typeface="Neo Tech Light"/>
              </a:rPr>
              <a:t>•- Kali Linux/Debian</a:t>
            </a:r>
          </a:p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 Light"/>
                <a:ea typeface="Neo Tech Light"/>
                <a:cs typeface="Neo Tech Light"/>
                <a:sym typeface="Neo Tech Light"/>
              </a:rPr>
              <a:t>•- Cowrie Honeypot</a:t>
            </a:r>
          </a:p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 Light"/>
                <a:ea typeface="Neo Tech Light"/>
                <a:cs typeface="Neo Tech Light"/>
                <a:sym typeface="Neo Tech Light"/>
              </a:rPr>
              <a:t>•- Nmap</a:t>
            </a:r>
          </a:p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 Light"/>
                <a:ea typeface="Neo Tech Light"/>
                <a:cs typeface="Neo Tech Light"/>
                <a:sym typeface="Neo Tech Light"/>
              </a:rPr>
              <a:t>•- Hydra</a:t>
            </a:r>
          </a:p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 Light"/>
                <a:ea typeface="Neo Tech Light"/>
                <a:cs typeface="Neo Tech Light"/>
                <a:sym typeface="Neo Tech Light"/>
              </a:rPr>
              <a:t>•- hping3</a:t>
            </a:r>
          </a:p>
          <a:p>
            <a:pPr algn="l">
              <a:lnSpc>
                <a:spcPts val="5200"/>
              </a:lnSpc>
            </a:pPr>
            <a:endParaRPr lang="en-US" sz="3041" spc="33">
              <a:solidFill>
                <a:srgbClr val="FFFFFF"/>
              </a:solidFill>
              <a:latin typeface="Neo Tech Light"/>
              <a:ea typeface="Neo Tech Light"/>
              <a:cs typeface="Neo Tech Light"/>
              <a:sym typeface="Neo Tech Light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6719659" y="4370671"/>
            <a:ext cx="10108673" cy="3790752"/>
          </a:xfrm>
          <a:custGeom>
            <a:avLst/>
            <a:gdLst/>
            <a:ahLst/>
            <a:cxnLst/>
            <a:rect l="l" t="t" r="r" b="b"/>
            <a:pathLst>
              <a:path w="10108673" h="3790752">
                <a:moveTo>
                  <a:pt x="0" y="0"/>
                </a:moveTo>
                <a:lnTo>
                  <a:pt x="10108673" y="0"/>
                </a:lnTo>
                <a:lnTo>
                  <a:pt x="10108673" y="3790752"/>
                </a:lnTo>
                <a:lnTo>
                  <a:pt x="0" y="37907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711397" y="2278877"/>
            <a:ext cx="9134184" cy="1034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4"/>
              </a:lnSpc>
            </a:pPr>
            <a:r>
              <a:rPr lang="en-US" sz="5776" b="1">
                <a:solidFill>
                  <a:srgbClr val="90F8FF"/>
                </a:solidFill>
                <a:latin typeface="Neo Tech Bold"/>
                <a:ea typeface="Neo Tech Bold"/>
                <a:cs typeface="Neo Tech Bold"/>
                <a:sym typeface="Neo Tech Bold"/>
              </a:rPr>
              <a:t>TOOLS YANG DI GUNAKAN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5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52153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26077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52153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26077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113566">
                <a:alpha val="9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969121" y="1028700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00000">
            <a:off x="3969121" y="8389236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1EF1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726322" y="7750879"/>
            <a:ext cx="2242799" cy="1529181"/>
          </a:xfrm>
          <a:custGeom>
            <a:avLst/>
            <a:gdLst/>
            <a:ahLst/>
            <a:cxnLst/>
            <a:rect l="l" t="t" r="r" b="b"/>
            <a:pathLst>
              <a:path w="2242799" h="1529181">
                <a:moveTo>
                  <a:pt x="0" y="0"/>
                </a:moveTo>
                <a:lnTo>
                  <a:pt x="2242799" y="0"/>
                </a:lnTo>
                <a:lnTo>
                  <a:pt x="2242799" y="1529181"/>
                </a:lnTo>
                <a:lnTo>
                  <a:pt x="0" y="15291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148677" y="7750879"/>
            <a:ext cx="2242799" cy="1529181"/>
          </a:xfrm>
          <a:custGeom>
            <a:avLst/>
            <a:gdLst/>
            <a:ahLst/>
            <a:cxnLst/>
            <a:rect l="l" t="t" r="r" b="b"/>
            <a:pathLst>
              <a:path w="2242799" h="1529181">
                <a:moveTo>
                  <a:pt x="0" y="0"/>
                </a:moveTo>
                <a:lnTo>
                  <a:pt x="2242799" y="0"/>
                </a:lnTo>
                <a:lnTo>
                  <a:pt x="2242799" y="1529181"/>
                </a:lnTo>
                <a:lnTo>
                  <a:pt x="0" y="15291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68498" y="3398819"/>
            <a:ext cx="12375509" cy="2641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sz="3041" spc="33">
                <a:solidFill>
                  <a:srgbClr val="5EFAF7"/>
                </a:solidFill>
                <a:latin typeface="Neo Tech"/>
                <a:ea typeface="Neo Tech"/>
                <a:cs typeface="Neo Tech"/>
                <a:sym typeface="Neo Tech"/>
              </a:rPr>
              <a:t>•Server (Ubuntu): 192.168.100.50</a:t>
            </a:r>
          </a:p>
          <a:p>
            <a:pPr algn="ctr">
              <a:lnSpc>
                <a:spcPts val="5200"/>
              </a:lnSpc>
            </a:pPr>
            <a:r>
              <a:rPr lang="en-US" sz="3041" spc="33">
                <a:solidFill>
                  <a:srgbClr val="5EFAF7"/>
                </a:solidFill>
                <a:latin typeface="Neo Tech"/>
                <a:ea typeface="Neo Tech"/>
                <a:cs typeface="Neo Tech"/>
                <a:sym typeface="Neo Tech"/>
              </a:rPr>
              <a:t>•Attacker (Kali Linux): 192.168.100.49</a:t>
            </a:r>
          </a:p>
          <a:p>
            <a:pPr algn="ctr">
              <a:lnSpc>
                <a:spcPts val="5200"/>
              </a:lnSpc>
            </a:pPr>
            <a:r>
              <a:rPr lang="en-US" sz="3041" spc="33">
                <a:solidFill>
                  <a:srgbClr val="5EFAF7"/>
                </a:solidFill>
                <a:latin typeface="Neo Tech"/>
                <a:ea typeface="Neo Tech"/>
                <a:cs typeface="Neo Tech"/>
                <a:sym typeface="Neo Tech"/>
              </a:rPr>
              <a:t>•Keduanya berada dalam satu jaringan Host-Only untuk simulasi serangan.</a:t>
            </a:r>
          </a:p>
        </p:txBody>
      </p:sp>
      <p:sp>
        <p:nvSpPr>
          <p:cNvPr id="19" name="Freeform 19"/>
          <p:cNvSpPr/>
          <p:nvPr/>
        </p:nvSpPr>
        <p:spPr>
          <a:xfrm>
            <a:off x="3969121" y="6325851"/>
            <a:ext cx="11301259" cy="2189619"/>
          </a:xfrm>
          <a:custGeom>
            <a:avLst/>
            <a:gdLst/>
            <a:ahLst/>
            <a:cxnLst/>
            <a:rect l="l" t="t" r="r" b="b"/>
            <a:pathLst>
              <a:path w="11301259" h="2189619">
                <a:moveTo>
                  <a:pt x="0" y="0"/>
                </a:moveTo>
                <a:lnTo>
                  <a:pt x="11301259" y="0"/>
                </a:lnTo>
                <a:lnTo>
                  <a:pt x="11301259" y="2189619"/>
                </a:lnTo>
                <a:lnTo>
                  <a:pt x="0" y="21896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282757" y="2278877"/>
            <a:ext cx="13991463" cy="1034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4"/>
              </a:lnSpc>
            </a:pPr>
            <a:r>
              <a:rPr lang="en-US" sz="5776" b="1">
                <a:solidFill>
                  <a:srgbClr val="90F8FF"/>
                </a:solidFill>
                <a:latin typeface="Neo Tech Bold"/>
                <a:ea typeface="Neo Tech Bold"/>
                <a:cs typeface="Neo Tech Bold"/>
                <a:sym typeface="Neo Tech Bold"/>
              </a:rPr>
              <a:t>TOPOLOGI DAN KONFIGURASI JARINGAN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5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52153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26077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52153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26077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113566">
                <a:alpha val="9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969121" y="1028700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00000">
            <a:off x="3969121" y="8389236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1EF1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13831" y="3449252"/>
            <a:ext cx="13356246" cy="395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•1. Update sistem Ubuntu</a:t>
            </a:r>
          </a:p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•2. Install dependency Python dan library</a:t>
            </a:r>
          </a:p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•3. Install Cowrie dalam virtual environment</a:t>
            </a:r>
          </a:p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•4. Pindahkan SSH asli ke port 2222</a:t>
            </a:r>
          </a:p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•5. Jalankan Cowrie pada port 22</a:t>
            </a:r>
          </a:p>
          <a:p>
            <a:pPr algn="l">
              <a:lnSpc>
                <a:spcPts val="5200"/>
              </a:lnSpc>
            </a:pPr>
            <a:endParaRPr lang="en-US" sz="3041" spc="33">
              <a:solidFill>
                <a:srgbClr val="FFFFFF"/>
              </a:solidFill>
              <a:latin typeface="Neo Tech"/>
              <a:ea typeface="Neo Tech"/>
              <a:cs typeface="Neo Tech"/>
              <a:sym typeface="Neo Tech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726322" y="7750879"/>
            <a:ext cx="2242799" cy="1529181"/>
          </a:xfrm>
          <a:custGeom>
            <a:avLst/>
            <a:gdLst/>
            <a:ahLst/>
            <a:cxnLst/>
            <a:rect l="l" t="t" r="r" b="b"/>
            <a:pathLst>
              <a:path w="2242799" h="1529181">
                <a:moveTo>
                  <a:pt x="0" y="0"/>
                </a:moveTo>
                <a:lnTo>
                  <a:pt x="2242799" y="0"/>
                </a:lnTo>
                <a:lnTo>
                  <a:pt x="2242799" y="1529181"/>
                </a:lnTo>
                <a:lnTo>
                  <a:pt x="0" y="15291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148677" y="7750879"/>
            <a:ext cx="2242799" cy="1529181"/>
          </a:xfrm>
          <a:custGeom>
            <a:avLst/>
            <a:gdLst/>
            <a:ahLst/>
            <a:cxnLst/>
            <a:rect l="l" t="t" r="r" b="b"/>
            <a:pathLst>
              <a:path w="2242799" h="1529181">
                <a:moveTo>
                  <a:pt x="0" y="0"/>
                </a:moveTo>
                <a:lnTo>
                  <a:pt x="2242799" y="0"/>
                </a:lnTo>
                <a:lnTo>
                  <a:pt x="2242799" y="1529181"/>
                </a:lnTo>
                <a:lnTo>
                  <a:pt x="0" y="15291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627859" y="7051614"/>
            <a:ext cx="11301259" cy="1398531"/>
          </a:xfrm>
          <a:custGeom>
            <a:avLst/>
            <a:gdLst/>
            <a:ahLst/>
            <a:cxnLst/>
            <a:rect l="l" t="t" r="r" b="b"/>
            <a:pathLst>
              <a:path w="11301259" h="1398531">
                <a:moveTo>
                  <a:pt x="0" y="0"/>
                </a:moveTo>
                <a:lnTo>
                  <a:pt x="11301259" y="0"/>
                </a:lnTo>
                <a:lnTo>
                  <a:pt x="11301259" y="1398530"/>
                </a:lnTo>
                <a:lnTo>
                  <a:pt x="0" y="13985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964381" y="2278877"/>
            <a:ext cx="14628216" cy="1034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4"/>
              </a:lnSpc>
            </a:pPr>
            <a:r>
              <a:rPr lang="en-US" sz="5776" b="1">
                <a:solidFill>
                  <a:srgbClr val="90F8FF"/>
                </a:solidFill>
                <a:latin typeface="Neo Tech Bold"/>
                <a:ea typeface="Neo Tech Bold"/>
                <a:cs typeface="Neo Tech Bold"/>
                <a:sym typeface="Neo Tech Bold"/>
              </a:rPr>
              <a:t>INSTALASI COWRIE HONEYPOT (RINGKAS)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5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64235" y="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26077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52153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26077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113566">
                <a:alpha val="9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969121" y="1028700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00000">
            <a:off x="3969121" y="8389236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1EF1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28700" y="2751622"/>
            <a:ext cx="3507719" cy="242352"/>
          </a:xfrm>
          <a:custGeom>
            <a:avLst/>
            <a:gdLst/>
            <a:ahLst/>
            <a:cxnLst/>
            <a:rect l="l" t="t" r="r" b="b"/>
            <a:pathLst>
              <a:path w="3507719" h="242352">
                <a:moveTo>
                  <a:pt x="0" y="0"/>
                </a:moveTo>
                <a:lnTo>
                  <a:pt x="3507719" y="0"/>
                </a:lnTo>
                <a:lnTo>
                  <a:pt x="3507719" y="242351"/>
                </a:lnTo>
                <a:lnTo>
                  <a:pt x="0" y="2423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13751581" y="2751622"/>
            <a:ext cx="3507719" cy="242352"/>
          </a:xfrm>
          <a:custGeom>
            <a:avLst/>
            <a:gdLst/>
            <a:ahLst/>
            <a:cxnLst/>
            <a:rect l="l" t="t" r="r" b="b"/>
            <a:pathLst>
              <a:path w="3507719" h="242352">
                <a:moveTo>
                  <a:pt x="3507719" y="0"/>
                </a:moveTo>
                <a:lnTo>
                  <a:pt x="0" y="0"/>
                </a:lnTo>
                <a:lnTo>
                  <a:pt x="0" y="242351"/>
                </a:lnTo>
                <a:lnTo>
                  <a:pt x="3507719" y="242351"/>
                </a:lnTo>
                <a:lnTo>
                  <a:pt x="350771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784617" y="3473718"/>
            <a:ext cx="1232618" cy="1190036"/>
          </a:xfrm>
          <a:custGeom>
            <a:avLst/>
            <a:gdLst/>
            <a:ahLst/>
            <a:cxnLst/>
            <a:rect l="l" t="t" r="r" b="b"/>
            <a:pathLst>
              <a:path w="1232618" h="1190036">
                <a:moveTo>
                  <a:pt x="0" y="0"/>
                </a:moveTo>
                <a:lnTo>
                  <a:pt x="1232618" y="0"/>
                </a:lnTo>
                <a:lnTo>
                  <a:pt x="1232618" y="1190037"/>
                </a:lnTo>
                <a:lnTo>
                  <a:pt x="0" y="11900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893441" y="5143500"/>
            <a:ext cx="1014971" cy="1005744"/>
          </a:xfrm>
          <a:custGeom>
            <a:avLst/>
            <a:gdLst/>
            <a:ahLst/>
            <a:cxnLst/>
            <a:rect l="l" t="t" r="r" b="b"/>
            <a:pathLst>
              <a:path w="1014971" h="1005744">
                <a:moveTo>
                  <a:pt x="0" y="0"/>
                </a:moveTo>
                <a:lnTo>
                  <a:pt x="1014970" y="0"/>
                </a:lnTo>
                <a:lnTo>
                  <a:pt x="1014970" y="1005744"/>
                </a:lnTo>
                <a:lnTo>
                  <a:pt x="0" y="10057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913342" y="6802835"/>
            <a:ext cx="995069" cy="1145975"/>
          </a:xfrm>
          <a:custGeom>
            <a:avLst/>
            <a:gdLst/>
            <a:ahLst/>
            <a:cxnLst/>
            <a:rect l="l" t="t" r="r" b="b"/>
            <a:pathLst>
              <a:path w="995069" h="1145975">
                <a:moveTo>
                  <a:pt x="0" y="0"/>
                </a:moveTo>
                <a:lnTo>
                  <a:pt x="995069" y="0"/>
                </a:lnTo>
                <a:lnTo>
                  <a:pt x="995069" y="1145975"/>
                </a:lnTo>
                <a:lnTo>
                  <a:pt x="0" y="11459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710763" y="1933649"/>
            <a:ext cx="14866474" cy="152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8"/>
              </a:lnSpc>
            </a:pPr>
            <a:r>
              <a:rPr lang="en-US" sz="4452" b="1">
                <a:solidFill>
                  <a:srgbClr val="90F8FF"/>
                </a:solidFill>
                <a:latin typeface="Neo Tech Bold"/>
                <a:ea typeface="Neo Tech Bold"/>
                <a:cs typeface="Neo Tech Bold"/>
                <a:sym typeface="Neo Tech Bold"/>
              </a:rPr>
              <a:t>SKENARIO DOUBLE ATTACK 1: PORT SCANNING + BRUTE FORCE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79569" y="3060773"/>
            <a:ext cx="8996261" cy="395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•Nmap digunakan untuk scanning port.</a:t>
            </a:r>
          </a:p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•Hydra dijalankan bersamaan untuk brute force login SSH.</a:t>
            </a:r>
          </a:p>
          <a:p>
            <a:pPr algn="l">
              <a:lnSpc>
                <a:spcPts val="5200"/>
              </a:lnSpc>
            </a:pPr>
            <a:r>
              <a:rPr lang="en-US" sz="3041" spc="33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•Cowrie mencatat kedua aktivitas serangan secara bersamaan.</a:t>
            </a:r>
          </a:p>
          <a:p>
            <a:pPr algn="l">
              <a:lnSpc>
                <a:spcPts val="5200"/>
              </a:lnSpc>
            </a:pPr>
            <a:endParaRPr lang="en-US" sz="3041" spc="33">
              <a:solidFill>
                <a:srgbClr val="FFFFFF"/>
              </a:solidFill>
              <a:latin typeface="Neo Tech"/>
              <a:ea typeface="Neo Tech"/>
              <a:cs typeface="Neo Tech"/>
              <a:sym typeface="Neo Tech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3479569" y="6683621"/>
            <a:ext cx="11301259" cy="1384404"/>
          </a:xfrm>
          <a:custGeom>
            <a:avLst/>
            <a:gdLst/>
            <a:ahLst/>
            <a:cxnLst/>
            <a:rect l="l" t="t" r="r" b="b"/>
            <a:pathLst>
              <a:path w="11301259" h="1384404">
                <a:moveTo>
                  <a:pt x="0" y="0"/>
                </a:moveTo>
                <a:lnTo>
                  <a:pt x="11301259" y="0"/>
                </a:lnTo>
                <a:lnTo>
                  <a:pt x="11301259" y="1384404"/>
                </a:lnTo>
                <a:lnTo>
                  <a:pt x="0" y="138440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5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52153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26077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52153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26077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113566">
                <a:alpha val="9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969121" y="1028700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00000">
            <a:off x="3969121" y="8389236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1EF1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flipH="1">
            <a:off x="14493835" y="2508735"/>
            <a:ext cx="2765465" cy="191068"/>
          </a:xfrm>
          <a:custGeom>
            <a:avLst/>
            <a:gdLst/>
            <a:ahLst/>
            <a:cxnLst/>
            <a:rect l="l" t="t" r="r" b="b"/>
            <a:pathLst>
              <a:path w="2765465" h="191068">
                <a:moveTo>
                  <a:pt x="2765465" y="0"/>
                </a:moveTo>
                <a:lnTo>
                  <a:pt x="0" y="0"/>
                </a:lnTo>
                <a:lnTo>
                  <a:pt x="0" y="191069"/>
                </a:lnTo>
                <a:lnTo>
                  <a:pt x="2765465" y="191069"/>
                </a:lnTo>
                <a:lnTo>
                  <a:pt x="276546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29323" y="2508735"/>
            <a:ext cx="2765465" cy="191068"/>
          </a:xfrm>
          <a:custGeom>
            <a:avLst/>
            <a:gdLst/>
            <a:ahLst/>
            <a:cxnLst/>
            <a:rect l="l" t="t" r="r" b="b"/>
            <a:pathLst>
              <a:path w="2765465" h="191068">
                <a:moveTo>
                  <a:pt x="0" y="0"/>
                </a:moveTo>
                <a:lnTo>
                  <a:pt x="2765465" y="0"/>
                </a:lnTo>
                <a:lnTo>
                  <a:pt x="2765465" y="191069"/>
                </a:lnTo>
                <a:lnTo>
                  <a:pt x="0" y="1910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823638" y="1754562"/>
            <a:ext cx="14640723" cy="849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73"/>
              </a:lnSpc>
            </a:pPr>
            <a:r>
              <a:rPr lang="en-US" sz="4745" b="1">
                <a:solidFill>
                  <a:srgbClr val="90F8FF"/>
                </a:solidFill>
                <a:latin typeface="Neo Tech Bold"/>
                <a:ea typeface="Neo Tech Bold"/>
                <a:cs typeface="Neo Tech Bold"/>
                <a:sym typeface="Neo Tech Bold"/>
              </a:rPr>
              <a:t>SKENARIO DOUBLE ATTACK 2: BRUTE FORCE + DOS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23638" y="3071279"/>
            <a:ext cx="13538965" cy="3014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8"/>
              </a:lnSpc>
            </a:pPr>
            <a:r>
              <a:rPr lang="en-US" sz="3460" spc="38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•Hydra melakukan brute force.</a:t>
            </a:r>
          </a:p>
          <a:p>
            <a:pPr algn="l">
              <a:lnSpc>
                <a:spcPts val="5918"/>
              </a:lnSpc>
            </a:pPr>
            <a:r>
              <a:rPr lang="en-US" sz="3460" spc="38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•Nmap melakukan scanning mendalam.</a:t>
            </a:r>
          </a:p>
          <a:p>
            <a:pPr algn="l">
              <a:lnSpc>
                <a:spcPts val="5918"/>
              </a:lnSpc>
            </a:pPr>
            <a:r>
              <a:rPr lang="en-US" sz="3460" spc="38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•Cowrie tetap stabil dan mencatat seluruh aktivitas serangan.</a:t>
            </a:r>
          </a:p>
          <a:p>
            <a:pPr algn="l">
              <a:lnSpc>
                <a:spcPts val="5918"/>
              </a:lnSpc>
            </a:pPr>
            <a:endParaRPr lang="en-US" sz="3460" spc="38">
              <a:solidFill>
                <a:srgbClr val="FFFFFF"/>
              </a:solidFill>
              <a:latin typeface="Neo Tech"/>
              <a:ea typeface="Neo Tech"/>
              <a:cs typeface="Neo Tech"/>
              <a:sym typeface="Neo Tec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5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52153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26077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52153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26077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113566">
                <a:alpha val="9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969121" y="1028700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00000">
            <a:off x="3969121" y="8389236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1EF1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55238" y="1764414"/>
            <a:ext cx="14777524" cy="83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557" b="1">
                <a:solidFill>
                  <a:srgbClr val="90F8FF"/>
                </a:solidFill>
                <a:latin typeface="Neo Tech Bold"/>
                <a:ea typeface="Neo Tech Bold"/>
                <a:cs typeface="Neo Tech Bold"/>
                <a:sym typeface="Neo Tech Bold"/>
              </a:rPr>
              <a:t>SKENARIO DOUBLE ATTACK 3: DOS + PORT SCANNING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28700" y="2482306"/>
            <a:ext cx="3507719" cy="242352"/>
          </a:xfrm>
          <a:custGeom>
            <a:avLst/>
            <a:gdLst/>
            <a:ahLst/>
            <a:cxnLst/>
            <a:rect l="l" t="t" r="r" b="b"/>
            <a:pathLst>
              <a:path w="3507719" h="242352">
                <a:moveTo>
                  <a:pt x="0" y="0"/>
                </a:moveTo>
                <a:lnTo>
                  <a:pt x="3507719" y="0"/>
                </a:lnTo>
                <a:lnTo>
                  <a:pt x="3507719" y="242351"/>
                </a:lnTo>
                <a:lnTo>
                  <a:pt x="0" y="2423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H="1">
            <a:off x="13751581" y="2482306"/>
            <a:ext cx="3507719" cy="242352"/>
          </a:xfrm>
          <a:custGeom>
            <a:avLst/>
            <a:gdLst/>
            <a:ahLst/>
            <a:cxnLst/>
            <a:rect l="l" t="t" r="r" b="b"/>
            <a:pathLst>
              <a:path w="3507719" h="242352">
                <a:moveTo>
                  <a:pt x="3507719" y="0"/>
                </a:moveTo>
                <a:lnTo>
                  <a:pt x="0" y="0"/>
                </a:lnTo>
                <a:lnTo>
                  <a:pt x="0" y="242351"/>
                </a:lnTo>
                <a:lnTo>
                  <a:pt x="3507719" y="242351"/>
                </a:lnTo>
                <a:lnTo>
                  <a:pt x="350771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432796" y="3774214"/>
            <a:ext cx="14459283" cy="1369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6"/>
              </a:lnSpc>
              <a:spcBef>
                <a:spcPct val="0"/>
              </a:spcBef>
            </a:pPr>
            <a:r>
              <a:rPr lang="en-US" sz="2619" b="1">
                <a:solidFill>
                  <a:srgbClr val="90F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•hping3 melakukan flood (DoS) ke port 22.</a:t>
            </a:r>
          </a:p>
          <a:p>
            <a:pPr algn="ctr">
              <a:lnSpc>
                <a:spcPts val="3666"/>
              </a:lnSpc>
              <a:spcBef>
                <a:spcPct val="0"/>
              </a:spcBef>
            </a:pPr>
            <a:r>
              <a:rPr lang="en-US" sz="2619" b="1">
                <a:solidFill>
                  <a:srgbClr val="90F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•Nmap melakukan scanning semua port.</a:t>
            </a:r>
          </a:p>
          <a:p>
            <a:pPr algn="ctr">
              <a:lnSpc>
                <a:spcPts val="3666"/>
              </a:lnSpc>
              <a:spcBef>
                <a:spcPct val="0"/>
              </a:spcBef>
            </a:pPr>
            <a:r>
              <a:rPr lang="en-US" sz="2619" b="1">
                <a:solidFill>
                  <a:srgbClr val="90F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•Cowrie tetap mendeteksi serangan di tengah traffic tinggi.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5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52153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26077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52153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26077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113566">
                <a:alpha val="9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969121" y="1028700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00000">
            <a:off x="3969121" y="8389236"/>
            <a:ext cx="10349757" cy="869064"/>
          </a:xfrm>
          <a:custGeom>
            <a:avLst/>
            <a:gdLst/>
            <a:ahLst/>
            <a:cxnLst/>
            <a:rect l="l" t="t" r="r" b="b"/>
            <a:pathLst>
              <a:path w="10349757" h="869064">
                <a:moveTo>
                  <a:pt x="0" y="0"/>
                </a:moveTo>
                <a:lnTo>
                  <a:pt x="10349758" y="0"/>
                </a:lnTo>
                <a:lnTo>
                  <a:pt x="10349758" y="869064"/>
                </a:lnTo>
                <a:lnTo>
                  <a:pt x="0" y="869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4310" y="0"/>
                  </a:moveTo>
                  <a:lnTo>
                    <a:pt x="4260416" y="0"/>
                  </a:lnTo>
                  <a:cubicBezTo>
                    <a:pt x="4264211" y="0"/>
                    <a:pt x="4267851" y="1508"/>
                    <a:pt x="4270535" y="4191"/>
                  </a:cubicBezTo>
                  <a:cubicBezTo>
                    <a:pt x="4273218" y="6875"/>
                    <a:pt x="4274726" y="10515"/>
                    <a:pt x="4274726" y="14310"/>
                  </a:cubicBezTo>
                  <a:lnTo>
                    <a:pt x="4274726" y="2153157"/>
                  </a:lnTo>
                  <a:cubicBezTo>
                    <a:pt x="4274726" y="2156952"/>
                    <a:pt x="4273218" y="2160592"/>
                    <a:pt x="4270535" y="2163276"/>
                  </a:cubicBezTo>
                  <a:cubicBezTo>
                    <a:pt x="4267851" y="2165959"/>
                    <a:pt x="4264211" y="2167467"/>
                    <a:pt x="4260416" y="2167467"/>
                  </a:cubicBezTo>
                  <a:lnTo>
                    <a:pt x="14310" y="2167467"/>
                  </a:lnTo>
                  <a:cubicBezTo>
                    <a:pt x="10515" y="2167467"/>
                    <a:pt x="6875" y="2165959"/>
                    <a:pt x="4191" y="2163276"/>
                  </a:cubicBezTo>
                  <a:cubicBezTo>
                    <a:pt x="1508" y="2160592"/>
                    <a:pt x="0" y="2156952"/>
                    <a:pt x="0" y="2153157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1EF1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360495" y="2067166"/>
            <a:ext cx="5567011" cy="936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4"/>
              </a:lnSpc>
            </a:pPr>
            <a:r>
              <a:rPr lang="en-US" sz="5191" b="1">
                <a:solidFill>
                  <a:srgbClr val="90F8FF"/>
                </a:solidFill>
                <a:latin typeface="Neo Tech Bold"/>
                <a:ea typeface="Neo Tech Bold"/>
                <a:cs typeface="Neo Tech Bold"/>
                <a:sym typeface="Neo Tech Bold"/>
              </a:rPr>
              <a:t>HASIL PENGUJIAN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28700" y="2482306"/>
            <a:ext cx="3507719" cy="242352"/>
          </a:xfrm>
          <a:custGeom>
            <a:avLst/>
            <a:gdLst/>
            <a:ahLst/>
            <a:cxnLst/>
            <a:rect l="l" t="t" r="r" b="b"/>
            <a:pathLst>
              <a:path w="3507719" h="242352">
                <a:moveTo>
                  <a:pt x="0" y="0"/>
                </a:moveTo>
                <a:lnTo>
                  <a:pt x="3507719" y="0"/>
                </a:lnTo>
                <a:lnTo>
                  <a:pt x="3507719" y="242351"/>
                </a:lnTo>
                <a:lnTo>
                  <a:pt x="0" y="2423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H="1">
            <a:off x="13751581" y="2482306"/>
            <a:ext cx="3507719" cy="242352"/>
          </a:xfrm>
          <a:custGeom>
            <a:avLst/>
            <a:gdLst/>
            <a:ahLst/>
            <a:cxnLst/>
            <a:rect l="l" t="t" r="r" b="b"/>
            <a:pathLst>
              <a:path w="3507719" h="242352">
                <a:moveTo>
                  <a:pt x="3507719" y="0"/>
                </a:moveTo>
                <a:lnTo>
                  <a:pt x="0" y="0"/>
                </a:lnTo>
                <a:lnTo>
                  <a:pt x="0" y="242351"/>
                </a:lnTo>
                <a:lnTo>
                  <a:pt x="3507719" y="242351"/>
                </a:lnTo>
                <a:lnTo>
                  <a:pt x="350771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029374" y="3753332"/>
            <a:ext cx="3879494" cy="3879494"/>
          </a:xfrm>
          <a:custGeom>
            <a:avLst/>
            <a:gdLst/>
            <a:ahLst/>
            <a:cxnLst/>
            <a:rect l="l" t="t" r="r" b="b"/>
            <a:pathLst>
              <a:path w="3879494" h="3879494">
                <a:moveTo>
                  <a:pt x="0" y="0"/>
                </a:moveTo>
                <a:lnTo>
                  <a:pt x="3879494" y="0"/>
                </a:lnTo>
                <a:lnTo>
                  <a:pt x="3879494" y="3879494"/>
                </a:lnTo>
                <a:lnTo>
                  <a:pt x="0" y="38794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224002" y="4210427"/>
            <a:ext cx="11239464" cy="3263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8"/>
              </a:lnSpc>
            </a:pPr>
            <a:r>
              <a:rPr lang="en-US" sz="3747" spc="41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•1. Port Scanning + Brute Force → Terdeteksi</a:t>
            </a:r>
          </a:p>
          <a:p>
            <a:pPr algn="l">
              <a:lnSpc>
                <a:spcPts val="6408"/>
              </a:lnSpc>
            </a:pPr>
            <a:r>
              <a:rPr lang="en-US" sz="3747" spc="41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•2. Brute Force + DoS → Terdeteksi</a:t>
            </a:r>
          </a:p>
          <a:p>
            <a:pPr algn="l">
              <a:lnSpc>
                <a:spcPts val="6408"/>
              </a:lnSpc>
            </a:pPr>
            <a:r>
              <a:rPr lang="en-US" sz="3747" spc="41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•3. DoS + Port Scanning → Terdeteksi</a:t>
            </a:r>
          </a:p>
          <a:p>
            <a:pPr algn="l">
              <a:lnSpc>
                <a:spcPts val="6408"/>
              </a:lnSpc>
            </a:pPr>
            <a:endParaRPr lang="en-US" sz="3747" spc="41">
              <a:solidFill>
                <a:srgbClr val="FFFFFF"/>
              </a:solidFill>
              <a:latin typeface="Neo Tech"/>
              <a:ea typeface="Neo Tech"/>
              <a:cs typeface="Neo Tech"/>
              <a:sym typeface="Neo Tech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259341" y="3772382"/>
            <a:ext cx="82461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7259341" y="7613776"/>
            <a:ext cx="82461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5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52153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26077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52153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26077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471355" y="7684325"/>
            <a:ext cx="3731115" cy="2957757"/>
          </a:xfrm>
          <a:custGeom>
            <a:avLst/>
            <a:gdLst/>
            <a:ahLst/>
            <a:cxnLst/>
            <a:rect l="l" t="t" r="r" b="b"/>
            <a:pathLst>
              <a:path w="3731115" h="2957757">
                <a:moveTo>
                  <a:pt x="0" y="0"/>
                </a:moveTo>
                <a:lnTo>
                  <a:pt x="3731115" y="0"/>
                </a:lnTo>
                <a:lnTo>
                  <a:pt x="3731115" y="2957757"/>
                </a:lnTo>
                <a:lnTo>
                  <a:pt x="0" y="29577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5604847" y="-832180"/>
            <a:ext cx="3396344" cy="2692375"/>
          </a:xfrm>
          <a:custGeom>
            <a:avLst/>
            <a:gdLst/>
            <a:ahLst/>
            <a:cxnLst/>
            <a:rect l="l" t="t" r="r" b="b"/>
            <a:pathLst>
              <a:path w="3396344" h="2692375">
                <a:moveTo>
                  <a:pt x="3396345" y="0"/>
                </a:moveTo>
                <a:lnTo>
                  <a:pt x="0" y="0"/>
                </a:lnTo>
                <a:lnTo>
                  <a:pt x="0" y="2692375"/>
                </a:lnTo>
                <a:lnTo>
                  <a:pt x="3396345" y="2692375"/>
                </a:lnTo>
                <a:lnTo>
                  <a:pt x="339634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flipV="1">
            <a:off x="4030157" y="2618302"/>
            <a:ext cx="1022768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3259760" y="6980066"/>
            <a:ext cx="2242799" cy="1529181"/>
          </a:xfrm>
          <a:custGeom>
            <a:avLst/>
            <a:gdLst/>
            <a:ahLst/>
            <a:cxnLst/>
            <a:rect l="l" t="t" r="r" b="b"/>
            <a:pathLst>
              <a:path w="2242799" h="1529181">
                <a:moveTo>
                  <a:pt x="0" y="0"/>
                </a:moveTo>
                <a:lnTo>
                  <a:pt x="2242799" y="0"/>
                </a:lnTo>
                <a:lnTo>
                  <a:pt x="2242799" y="1529182"/>
                </a:lnTo>
                <a:lnTo>
                  <a:pt x="0" y="15291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781048" y="6808616"/>
            <a:ext cx="2242799" cy="1529181"/>
          </a:xfrm>
          <a:custGeom>
            <a:avLst/>
            <a:gdLst/>
            <a:ahLst/>
            <a:cxnLst/>
            <a:rect l="l" t="t" r="r" b="b"/>
            <a:pathLst>
              <a:path w="2242799" h="1529181">
                <a:moveTo>
                  <a:pt x="0" y="0"/>
                </a:moveTo>
                <a:lnTo>
                  <a:pt x="2242800" y="0"/>
                </a:lnTo>
                <a:lnTo>
                  <a:pt x="2242800" y="1529182"/>
                </a:lnTo>
                <a:lnTo>
                  <a:pt x="0" y="15291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412773" y="781050"/>
            <a:ext cx="13971240" cy="168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87"/>
              </a:lnSpc>
            </a:pPr>
            <a:r>
              <a:rPr lang="en-US" sz="9443" b="1">
                <a:solidFill>
                  <a:srgbClr val="1EF1FF"/>
                </a:solidFill>
                <a:latin typeface="Neo Tech Bold"/>
                <a:ea typeface="Neo Tech Bold"/>
                <a:cs typeface="Neo Tech Bold"/>
                <a:sym typeface="Neo Tech Bold"/>
              </a:rPr>
              <a:t>PERHITUNGAN AKURASI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71292" y="2656402"/>
            <a:ext cx="10945416" cy="4018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81"/>
              </a:lnSpc>
              <a:spcBef>
                <a:spcPct val="0"/>
              </a:spcBef>
            </a:pPr>
            <a:r>
              <a:rPr lang="en-US" sz="5772" b="1">
                <a:solidFill>
                  <a:srgbClr val="1EF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•Jumlah pengujian: 3</a:t>
            </a:r>
          </a:p>
          <a:p>
            <a:pPr algn="ctr">
              <a:lnSpc>
                <a:spcPts val="8081"/>
              </a:lnSpc>
              <a:spcBef>
                <a:spcPct val="0"/>
              </a:spcBef>
            </a:pPr>
            <a:r>
              <a:rPr lang="en-US" sz="5772" b="1">
                <a:solidFill>
                  <a:srgbClr val="1EF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•Jumlah terdeteksi: 3</a:t>
            </a:r>
          </a:p>
          <a:p>
            <a:pPr algn="ctr">
              <a:lnSpc>
                <a:spcPts val="8081"/>
              </a:lnSpc>
              <a:spcBef>
                <a:spcPct val="0"/>
              </a:spcBef>
            </a:pPr>
            <a:r>
              <a:rPr lang="en-US" sz="5772" b="1">
                <a:solidFill>
                  <a:srgbClr val="1EF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</a:t>
            </a:r>
          </a:p>
          <a:p>
            <a:pPr algn="ctr">
              <a:lnSpc>
                <a:spcPts val="8081"/>
              </a:lnSpc>
              <a:spcBef>
                <a:spcPct val="0"/>
              </a:spcBef>
            </a:pPr>
            <a:r>
              <a:rPr lang="en-US" sz="5772" b="1">
                <a:solidFill>
                  <a:srgbClr val="1EF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•Akurasi = (3/3) × 100% = 100%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5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52153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26077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52153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26077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29946" y="1028700"/>
            <a:ext cx="14828108" cy="8229600"/>
          </a:xfrm>
          <a:custGeom>
            <a:avLst/>
            <a:gdLst/>
            <a:ahLst/>
            <a:cxnLst/>
            <a:rect l="l" t="t" r="r" b="b"/>
            <a:pathLst>
              <a:path w="14828108" h="8229600">
                <a:moveTo>
                  <a:pt x="0" y="0"/>
                </a:moveTo>
                <a:lnTo>
                  <a:pt x="14828108" y="0"/>
                </a:lnTo>
                <a:lnTo>
                  <a:pt x="148281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1355" y="7684325"/>
            <a:ext cx="3731115" cy="2957757"/>
          </a:xfrm>
          <a:custGeom>
            <a:avLst/>
            <a:gdLst/>
            <a:ahLst/>
            <a:cxnLst/>
            <a:rect l="l" t="t" r="r" b="b"/>
            <a:pathLst>
              <a:path w="3731115" h="2957757">
                <a:moveTo>
                  <a:pt x="0" y="0"/>
                </a:moveTo>
                <a:lnTo>
                  <a:pt x="3731115" y="0"/>
                </a:lnTo>
                <a:lnTo>
                  <a:pt x="3731115" y="2957757"/>
                </a:lnTo>
                <a:lnTo>
                  <a:pt x="0" y="29577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5604847" y="-832180"/>
            <a:ext cx="3396344" cy="2692375"/>
          </a:xfrm>
          <a:custGeom>
            <a:avLst/>
            <a:gdLst/>
            <a:ahLst/>
            <a:cxnLst/>
            <a:rect l="l" t="t" r="r" b="b"/>
            <a:pathLst>
              <a:path w="3396344" h="2692375">
                <a:moveTo>
                  <a:pt x="3396345" y="0"/>
                </a:moveTo>
                <a:lnTo>
                  <a:pt x="0" y="0"/>
                </a:lnTo>
                <a:lnTo>
                  <a:pt x="0" y="2692375"/>
                </a:lnTo>
                <a:lnTo>
                  <a:pt x="3396345" y="2692375"/>
                </a:lnTo>
                <a:lnTo>
                  <a:pt x="339634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 flipV="1">
            <a:off x="4030157" y="2618302"/>
            <a:ext cx="1022768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3259760" y="6378821"/>
            <a:ext cx="2242799" cy="1529181"/>
          </a:xfrm>
          <a:custGeom>
            <a:avLst/>
            <a:gdLst/>
            <a:ahLst/>
            <a:cxnLst/>
            <a:rect l="l" t="t" r="r" b="b"/>
            <a:pathLst>
              <a:path w="2242799" h="1529181">
                <a:moveTo>
                  <a:pt x="0" y="0"/>
                </a:moveTo>
                <a:lnTo>
                  <a:pt x="2242799" y="0"/>
                </a:lnTo>
                <a:lnTo>
                  <a:pt x="2242799" y="1529181"/>
                </a:lnTo>
                <a:lnTo>
                  <a:pt x="0" y="15291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81048" y="6378821"/>
            <a:ext cx="2242799" cy="1529181"/>
          </a:xfrm>
          <a:custGeom>
            <a:avLst/>
            <a:gdLst/>
            <a:ahLst/>
            <a:cxnLst/>
            <a:rect l="l" t="t" r="r" b="b"/>
            <a:pathLst>
              <a:path w="2242799" h="1529181">
                <a:moveTo>
                  <a:pt x="0" y="0"/>
                </a:moveTo>
                <a:lnTo>
                  <a:pt x="2242800" y="0"/>
                </a:lnTo>
                <a:lnTo>
                  <a:pt x="2242800" y="1529181"/>
                </a:lnTo>
                <a:lnTo>
                  <a:pt x="0" y="15291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300982" y="929162"/>
            <a:ext cx="7686037" cy="168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87"/>
              </a:lnSpc>
            </a:pPr>
            <a:r>
              <a:rPr lang="en-US" sz="9443" b="1">
                <a:solidFill>
                  <a:srgbClr val="1EF1FF"/>
                </a:solidFill>
                <a:latin typeface="Neo Tech Bold"/>
                <a:ea typeface="Neo Tech Bold"/>
                <a:cs typeface="Neo Tech Bold"/>
                <a:sym typeface="Neo Tech Bold"/>
              </a:rPr>
              <a:t>KESIMPULAN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71154" y="3058375"/>
            <a:ext cx="13107592" cy="241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8"/>
              </a:lnSpc>
              <a:spcBef>
                <a:spcPct val="0"/>
              </a:spcBef>
            </a:pPr>
            <a:r>
              <a:rPr lang="en-US" sz="3491" b="1">
                <a:solidFill>
                  <a:srgbClr val="1EF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•Cowrie Honeypot berhasil diimplementasikan.</a:t>
            </a:r>
          </a:p>
          <a:p>
            <a:pPr algn="ctr">
              <a:lnSpc>
                <a:spcPts val="4888"/>
              </a:lnSpc>
              <a:spcBef>
                <a:spcPct val="0"/>
              </a:spcBef>
            </a:pPr>
            <a:r>
              <a:rPr lang="en-US" sz="3491" b="1">
                <a:solidFill>
                  <a:srgbClr val="1EF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•Mampu mendeteksi serangan ganda secara bersamaan.</a:t>
            </a:r>
          </a:p>
          <a:p>
            <a:pPr algn="ctr">
              <a:lnSpc>
                <a:spcPts val="4888"/>
              </a:lnSpc>
              <a:spcBef>
                <a:spcPct val="0"/>
              </a:spcBef>
            </a:pPr>
            <a:r>
              <a:rPr lang="en-US" sz="3491" b="1">
                <a:solidFill>
                  <a:srgbClr val="1EF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•Tetap stabil meskipun menerima traffic tinggi.</a:t>
            </a:r>
          </a:p>
          <a:p>
            <a:pPr algn="ctr">
              <a:lnSpc>
                <a:spcPts val="4888"/>
              </a:lnSpc>
              <a:spcBef>
                <a:spcPct val="0"/>
              </a:spcBef>
            </a:pPr>
            <a:r>
              <a:rPr lang="en-US" sz="3491" b="1">
                <a:solidFill>
                  <a:srgbClr val="1EF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•Efektif sebagai alat pembelajaran pola serangan pada VPS.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5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52153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26077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52153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26077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6" y="0"/>
                </a:lnTo>
                <a:lnTo>
                  <a:pt x="6035846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892347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43500"/>
            <a:ext cx="6035847" cy="6035847"/>
          </a:xfrm>
          <a:custGeom>
            <a:avLst/>
            <a:gdLst/>
            <a:ahLst/>
            <a:cxnLst/>
            <a:rect l="l" t="t" r="r" b="b"/>
            <a:pathLst>
              <a:path w="6035847" h="6035847">
                <a:moveTo>
                  <a:pt x="0" y="0"/>
                </a:moveTo>
                <a:lnTo>
                  <a:pt x="6035847" y="0"/>
                </a:lnTo>
                <a:lnTo>
                  <a:pt x="6035847" y="6035847"/>
                </a:lnTo>
                <a:lnTo>
                  <a:pt x="0" y="603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29946" y="1028700"/>
            <a:ext cx="14828108" cy="8229600"/>
          </a:xfrm>
          <a:custGeom>
            <a:avLst/>
            <a:gdLst/>
            <a:ahLst/>
            <a:cxnLst/>
            <a:rect l="l" t="t" r="r" b="b"/>
            <a:pathLst>
              <a:path w="14828108" h="8229600">
                <a:moveTo>
                  <a:pt x="0" y="0"/>
                </a:moveTo>
                <a:lnTo>
                  <a:pt x="14828108" y="0"/>
                </a:lnTo>
                <a:lnTo>
                  <a:pt x="148281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1355" y="7684325"/>
            <a:ext cx="3731115" cy="2957757"/>
          </a:xfrm>
          <a:custGeom>
            <a:avLst/>
            <a:gdLst/>
            <a:ahLst/>
            <a:cxnLst/>
            <a:rect l="l" t="t" r="r" b="b"/>
            <a:pathLst>
              <a:path w="3731115" h="2957757">
                <a:moveTo>
                  <a:pt x="0" y="0"/>
                </a:moveTo>
                <a:lnTo>
                  <a:pt x="3731115" y="0"/>
                </a:lnTo>
                <a:lnTo>
                  <a:pt x="3731115" y="2957757"/>
                </a:lnTo>
                <a:lnTo>
                  <a:pt x="0" y="29577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5604847" y="-832180"/>
            <a:ext cx="3396344" cy="2692375"/>
          </a:xfrm>
          <a:custGeom>
            <a:avLst/>
            <a:gdLst/>
            <a:ahLst/>
            <a:cxnLst/>
            <a:rect l="l" t="t" r="r" b="b"/>
            <a:pathLst>
              <a:path w="3396344" h="2692375">
                <a:moveTo>
                  <a:pt x="3396345" y="0"/>
                </a:moveTo>
                <a:lnTo>
                  <a:pt x="0" y="0"/>
                </a:lnTo>
                <a:lnTo>
                  <a:pt x="0" y="2692375"/>
                </a:lnTo>
                <a:lnTo>
                  <a:pt x="3396345" y="2692375"/>
                </a:lnTo>
                <a:lnTo>
                  <a:pt x="339634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 flipV="1">
            <a:off x="4030157" y="2618302"/>
            <a:ext cx="1022768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3259760" y="6378821"/>
            <a:ext cx="2242799" cy="1529181"/>
          </a:xfrm>
          <a:custGeom>
            <a:avLst/>
            <a:gdLst/>
            <a:ahLst/>
            <a:cxnLst/>
            <a:rect l="l" t="t" r="r" b="b"/>
            <a:pathLst>
              <a:path w="2242799" h="1529181">
                <a:moveTo>
                  <a:pt x="0" y="0"/>
                </a:moveTo>
                <a:lnTo>
                  <a:pt x="2242799" y="0"/>
                </a:lnTo>
                <a:lnTo>
                  <a:pt x="2242799" y="1529181"/>
                </a:lnTo>
                <a:lnTo>
                  <a:pt x="0" y="15291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81048" y="6378821"/>
            <a:ext cx="2242799" cy="1529181"/>
          </a:xfrm>
          <a:custGeom>
            <a:avLst/>
            <a:gdLst/>
            <a:ahLst/>
            <a:cxnLst/>
            <a:rect l="l" t="t" r="r" b="b"/>
            <a:pathLst>
              <a:path w="2242799" h="1529181">
                <a:moveTo>
                  <a:pt x="0" y="0"/>
                </a:moveTo>
                <a:lnTo>
                  <a:pt x="2242800" y="0"/>
                </a:lnTo>
                <a:lnTo>
                  <a:pt x="2242800" y="1529181"/>
                </a:lnTo>
                <a:lnTo>
                  <a:pt x="0" y="15291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062878" y="3006667"/>
            <a:ext cx="8162244" cy="3230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87"/>
              </a:lnSpc>
            </a:pPr>
            <a:r>
              <a:rPr lang="en-US" sz="9443" b="1">
                <a:solidFill>
                  <a:srgbClr val="1EF1FF"/>
                </a:solidFill>
                <a:latin typeface="Neo Tech Bold"/>
                <a:ea typeface="Neo Tech Bold"/>
                <a:cs typeface="Neo Tech Bold"/>
                <a:sym typeface="Neo Tech Bold"/>
              </a:rPr>
              <a:t>SEKIAN</a:t>
            </a:r>
          </a:p>
          <a:p>
            <a:pPr algn="ctr">
              <a:lnSpc>
                <a:spcPts val="12087"/>
              </a:lnSpc>
            </a:pPr>
            <a:r>
              <a:rPr lang="en-US" sz="9443" b="1">
                <a:solidFill>
                  <a:srgbClr val="1EF1FF"/>
                </a:solidFill>
                <a:latin typeface="Neo Tech Bold"/>
                <a:ea typeface="Neo Tech Bold"/>
                <a:cs typeface="Neo Tech Bold"/>
                <a:sym typeface="Neo Tech Bold"/>
              </a:rPr>
              <a:t>TERIMAKASIH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Office PowerPoint</Application>
  <PresentationFormat>Custom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Neo Tech</vt:lpstr>
      <vt:lpstr>Arial</vt:lpstr>
      <vt:lpstr>Neo Tech Bold</vt:lpstr>
      <vt:lpstr>Open Sans Bold</vt:lpstr>
      <vt:lpstr>Neo Tech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Biru Dongker Modern Strategi Inovasi Bisnis dalam Menghadapi Disrupsi Teknologi Presentasi</dc:title>
  <dc:creator>M S I</dc:creator>
  <cp:lastModifiedBy>Raihan Aly Dzaki</cp:lastModifiedBy>
  <cp:revision>1</cp:revision>
  <dcterms:created xsi:type="dcterms:W3CDTF">2006-08-16T00:00:00Z</dcterms:created>
  <dcterms:modified xsi:type="dcterms:W3CDTF">2026-01-31T14:04:08Z</dcterms:modified>
  <dc:identifier>DAG__TGkyXA</dc:identifier>
</cp:coreProperties>
</file>